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2E5C9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E8763A"/>
              </a:gs>
              <a:gs pos="100000">
                <a:srgbClr val="F5A66B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2743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20000" b="1" i="1">
                <a:solidFill>
                  <a:srgbClr val="ECF0F6"/>
                </a:solidFill>
                <a:ea typeface="微软雅黑"/>
                <a:latin typeface="微软雅黑"/>
                <a:cs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91440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ANNUAL PRODUCT REVIEW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5200" b="1" i="0">
                <a:gradFill flip="none" rotWithShape="1">
                  <a:gsLst>
                    <a:gs pos="0">
                      <a:srgbClr val="1B3A6B"/>
                    </a:gs>
                    <a:gs pos="100000">
                      <a:srgbClr val="E8763A"/>
                    </a:gs>
                  </a:gsLst>
                  <a:lin ang="0" scaled="0"/>
                </a:gradFill>
                <a:ea typeface="微软雅黑"/>
                <a:latin typeface="微软雅黑"/>
                <a:cs typeface="微软雅黑"/>
              </a:rPr>
              <a:t>2025 年度产品复盘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474720"/>
            <a:ext cx="9144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省心记账 · 一年的增长、动作与未尽之事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4114800"/>
            <a:ext cx="2743200" cy="27432"/>
          </a:xfrm>
          <a:prstGeom prst="rect">
            <a:avLst/>
          </a:prstGeom>
          <a:gradFill flip="none" rotWithShape="1">
            <a:gsLst>
              <a:gs pos="0">
                <a:srgbClr val="E8763A"/>
              </a:gs>
              <a:gs pos="100000">
                <a:srgbClr val="F5A66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2E5C9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E8763A"/>
              </a:gs>
              <a:gs pos="100000">
                <a:srgbClr val="F5A66B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"/>
            <a:ext cx="27432" cy="502920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8229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22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年度核心数据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8638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KEY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57200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02 /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用户规模翻倍，留存与付费同步抬升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2697480" cy="31089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EF3FA"/>
              </a:gs>
            </a:gsLst>
            <a:lin ang="5400000" scaled="0"/>
          </a:gradFill>
          <a:ln>
            <a:noFill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2697480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420</a:t>
            </a:r>
            <a:r>
              <a:rPr sz="18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2A40"/>
                </a:solidFill>
                <a:ea typeface="微软雅黑"/>
                <a:latin typeface="微软雅黑"/>
                <a:cs typeface="微软雅黑"/>
              </a:rPr>
              <a:t>注册用户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34840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▲ +133%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6" y="2194560"/>
            <a:ext cx="2697480" cy="31089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EF3FA"/>
              </a:gs>
            </a:gsLst>
            <a:lin ang="5400000" scaled="0"/>
          </a:gradFill>
          <a:ln>
            <a:noFill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8416" y="2194560"/>
            <a:ext cx="2697480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292608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120</a:t>
            </a:r>
            <a:r>
              <a:rPr sz="18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3977639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2A40"/>
                </a:solidFill>
                <a:ea typeface="微软雅黑"/>
                <a:latin typeface="微软雅黑"/>
                <a:cs typeface="微软雅黑"/>
              </a:rPr>
              <a:t>月活 MAU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4434840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▲ +85%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2194560"/>
            <a:ext cx="2697480" cy="31089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EF3FA"/>
              </a:gs>
            </a:gsLst>
            <a:lin ang="5400000" scaled="0"/>
          </a:gradFill>
          <a:ln>
            <a:noFill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194560"/>
            <a:ext cx="2697480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2608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58</a:t>
            </a:r>
            <a:r>
              <a:rPr sz="18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977639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2A40"/>
                </a:solidFill>
                <a:ea typeface="微软雅黑"/>
                <a:latin typeface="微软雅黑"/>
                <a:cs typeface="微软雅黑"/>
              </a:rPr>
              <a:t>次日留存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4434840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▲ +13pt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2194560"/>
            <a:ext cx="2697480" cy="31089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EEF3FA"/>
              </a:gs>
            </a:gsLst>
            <a:lin ang="5400000" scaled="0"/>
          </a:gradFill>
          <a:ln>
            <a:noFill/>
          </a:ln>
          <a:effectLst>
            <a:outerShdw blurRad="127000" dist="38100" dir="5400000" algn="t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2194560"/>
            <a:ext cx="2697480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8" y="2926080"/>
            <a:ext cx="269748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430</a:t>
            </a:r>
            <a:r>
              <a:rPr sz="18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977639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2A40"/>
                </a:solidFill>
                <a:ea typeface="微软雅黑"/>
                <a:latin typeface="微软雅黑"/>
                <a:cs typeface="微软雅黑"/>
              </a:rPr>
              <a:t>年付费收入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4434840"/>
            <a:ext cx="2697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▲ +210%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2E5C9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E8763A"/>
              </a:gs>
              <a:gs pos="100000">
                <a:srgbClr val="F5A66B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"/>
            <a:ext cx="27432" cy="502920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84048"/>
            <a:ext cx="8229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22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重点动作与成果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78638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WHAT WE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457200"/>
            <a:ext cx="1280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03 /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6974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F"/>
            </a:solidFill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697480" cy="45720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D6DEEA"/>
                </a:solidFill>
                <a:ea typeface="微软雅黑"/>
                <a:latin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7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自动记账引擎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24028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25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短信+账单智能识别，把手动记账变自动归集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2240280" cy="18288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4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记账耗时 -70%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6" y="1828800"/>
            <a:ext cx="26974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F"/>
            </a:solidFill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8416" y="1828800"/>
            <a:ext cx="2697480" cy="45720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21031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D6DEEA"/>
                </a:solidFill>
                <a:ea typeface="微软雅黑"/>
                <a:latin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6" y="2697480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7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家庭账本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3383280"/>
            <a:ext cx="224028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25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多人共享账本，覆盖家庭协作记账场景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7016" y="4800600"/>
            <a:ext cx="2240280" cy="18288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489204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4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家庭用户 38 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1828800"/>
            <a:ext cx="26974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F"/>
            </a:solidFill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1828800"/>
            <a:ext cx="2697480" cy="45720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1031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D6DEEA"/>
                </a:solidFill>
                <a:ea typeface="微软雅黑"/>
                <a:latin typeface="微软雅黑"/>
                <a:cs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697480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7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会员体系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383280"/>
            <a:ext cx="224028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25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权益分层重构，付费路径更清晰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4800600"/>
            <a:ext cx="2240280" cy="18288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89204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4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付费会员 8.6 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9408" y="1828800"/>
            <a:ext cx="26974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F"/>
            </a:solidFill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79408" y="1828800"/>
            <a:ext cx="2697480" cy="45720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E8763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8008" y="210312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3000" b="1" i="1">
                <a:solidFill>
                  <a:srgbClr val="D6DEEA"/>
                </a:solidFill>
                <a:ea typeface="微软雅黑"/>
                <a:latin typeface="微软雅黑"/>
                <a:cs typeface="微软雅黑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8008" y="2697480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700" b="1" i="0">
                <a:solidFill>
                  <a:srgbClr val="1B3A6B"/>
                </a:solidFill>
                <a:ea typeface="微软雅黑"/>
                <a:latin typeface="微软雅黑"/>
                <a:cs typeface="微软雅黑"/>
              </a:rPr>
              <a:t>年度账单 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3383280"/>
            <a:ext cx="224028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250" b="0" i="0">
                <a:solidFill>
                  <a:srgbClr val="5A667A"/>
                </a:solidFill>
                <a:ea typeface="微软雅黑"/>
                <a:latin typeface="微软雅黑"/>
                <a:cs typeface="微软雅黑"/>
              </a:rPr>
              <a:t>社交化年度报告，带来一波自传播拉新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08008" y="4800600"/>
            <a:ext cx="2240280" cy="18288"/>
          </a:xfrm>
          <a:prstGeom prst="rect">
            <a:avLst/>
          </a:prstGeom>
          <a:solidFill>
            <a:srgbClr val="E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8008" y="4892040"/>
            <a:ext cx="2240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30000"/>
              </a:lnSpc>
            </a:pPr>
            <a:r>
              <a:rPr sz="1400" b="1" i="0">
                <a:solidFill>
                  <a:srgbClr val="E8763A"/>
                </a:solidFill>
                <a:ea typeface="微软雅黑"/>
                <a:latin typeface="微软雅黑"/>
                <a:cs typeface="微软雅黑"/>
              </a:rPr>
              <a:t>传播 PV 2400 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flip="none" rotWithShape="1">
            <a:gsLst>
              <a:gs pos="0">
                <a:srgbClr val="1B3A6B"/>
              </a:gs>
              <a:gs pos="100000">
                <a:srgbClr val="2E5C9E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E8763A"/>
              </a:gs>
              <a:gs pos="100000">
                <a:srgbClr val="F5A66B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END OF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 i="0">
                <a:gradFill flip="none" rotWithShape="1">
                  <a:gsLst>
                    <a:gs pos="0">
                      <a:srgbClr val="1B3A6B"/>
                    </a:gs>
                    <a:gs pos="100000">
                      <a:srgbClr val="E8763A"/>
                    </a:gs>
                  </a:gsLst>
                  <a:lin ang="0" scaled="0"/>
                </a:gradFill>
                <a:ea typeface="微软雅黑"/>
                <a:latin typeface="微软雅黑"/>
                <a:cs typeface="微软雅黑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1A2A40"/>
                </a:solidFill>
                <a:ea typeface="微软雅黑"/>
                <a:latin typeface="微软雅黑"/>
                <a:cs typeface="微软雅黑"/>
              </a:rPr>
              <a:t>2025 已成，2026 再战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949EAE"/>
                </a:solidFill>
                <a:ea typeface="微软雅黑"/>
                <a:latin typeface="微软雅黑"/>
                <a:cs typeface="微软雅黑"/>
              </a:rPr>
              <a:t>省心记账 · 产品与增长团队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